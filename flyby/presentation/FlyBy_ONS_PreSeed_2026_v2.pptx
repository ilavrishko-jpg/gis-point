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148840"/>
            <a:ext cx="1371600" cy="1371600"/>
          </a:xfrm>
          <a:prstGeom prst="rect">
            <a:avLst/>
          </a:prstGeom>
          <a:ln w="15875">
            <a:solidFill>
              <a:srgbClr val="3B9E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8700" y="2148840"/>
            <a:ext cx="0" cy="1371600"/>
          </a:xfrm>
          <a:prstGeom prst="line">
            <a:avLst/>
          </a:prstGeom>
          <a:noFill/>
          <a:ln w="9525">
            <a:solidFill>
              <a:srgbClr val="3B9E7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2491740"/>
            <a:ext cx="1371600" cy="0"/>
          </a:xfrm>
          <a:prstGeom prst="line">
            <a:avLst/>
          </a:prstGeom>
          <a:noFill/>
          <a:ln w="9525">
            <a:solidFill>
              <a:srgbClr val="3B9E7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2148840"/>
            <a:ext cx="0" cy="1371600"/>
          </a:xfrm>
          <a:prstGeom prst="line">
            <a:avLst/>
          </a:prstGeom>
          <a:noFill/>
          <a:ln w="9525">
            <a:solidFill>
              <a:srgbClr val="3B9E7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834640"/>
            <a:ext cx="1371600" cy="0"/>
          </a:xfrm>
          <a:prstGeom prst="line">
            <a:avLst/>
          </a:prstGeom>
          <a:noFill/>
          <a:ln w="9525">
            <a:solidFill>
              <a:srgbClr val="3B9E7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14500" y="2148840"/>
            <a:ext cx="0" cy="1371600"/>
          </a:xfrm>
          <a:prstGeom prst="line">
            <a:avLst/>
          </a:prstGeom>
          <a:noFill/>
          <a:ln w="9525">
            <a:solidFill>
              <a:srgbClr val="3B9E7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3177540"/>
            <a:ext cx="1371600" cy="0"/>
          </a:xfrm>
          <a:prstGeom prst="line">
            <a:avLst/>
          </a:prstGeom>
          <a:noFill/>
          <a:ln w="9525">
            <a:solidFill>
              <a:srgbClr val="3B9E7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9244" y="3287268"/>
            <a:ext cx="82296" cy="82296"/>
          </a:xfrm>
          <a:prstGeom prst="ellipse">
            <a:avLst/>
          </a:prstGeom>
          <a:solidFill>
            <a:srgbClr val="3B9E77"/>
          </a:solidFill>
          <a:ln/>
        </p:spPr>
      </p:sp>
      <p:sp>
        <p:nvSpPr>
          <p:cNvPr id="10" name="Shape 8"/>
          <p:cNvSpPr/>
          <p:nvPr/>
        </p:nvSpPr>
        <p:spPr>
          <a:xfrm>
            <a:off x="1072134" y="3028950"/>
            <a:ext cx="50292" cy="50292"/>
          </a:xfrm>
          <a:prstGeom prst="ellipse">
            <a:avLst/>
          </a:prstGeom>
          <a:solidFill>
            <a:srgbClr val="3B9E77"/>
          </a:solidFill>
          <a:ln/>
        </p:spPr>
      </p:sp>
      <p:sp>
        <p:nvSpPr>
          <p:cNvPr id="11" name="Shape 9"/>
          <p:cNvSpPr/>
          <p:nvPr/>
        </p:nvSpPr>
        <p:spPr>
          <a:xfrm>
            <a:off x="1346454" y="2878074"/>
            <a:ext cx="50292" cy="50292"/>
          </a:xfrm>
          <a:prstGeom prst="ellipse">
            <a:avLst/>
          </a:prstGeom>
          <a:solidFill>
            <a:srgbClr val="3B9E77"/>
          </a:solidFill>
          <a:ln/>
        </p:spPr>
      </p:sp>
      <p:sp>
        <p:nvSpPr>
          <p:cNvPr id="12" name="Shape 10"/>
          <p:cNvSpPr/>
          <p:nvPr/>
        </p:nvSpPr>
        <p:spPr>
          <a:xfrm>
            <a:off x="1593342" y="2782062"/>
            <a:ext cx="50292" cy="50292"/>
          </a:xfrm>
          <a:prstGeom prst="ellipse">
            <a:avLst/>
          </a:prstGeom>
          <a:solidFill>
            <a:srgbClr val="3B9E77"/>
          </a:solidFill>
          <a:ln/>
        </p:spPr>
      </p:sp>
      <p:sp>
        <p:nvSpPr>
          <p:cNvPr id="13" name="Shape 11"/>
          <p:cNvSpPr/>
          <p:nvPr/>
        </p:nvSpPr>
        <p:spPr>
          <a:xfrm>
            <a:off x="1812798" y="2452878"/>
            <a:ext cx="50292" cy="50292"/>
          </a:xfrm>
          <a:prstGeom prst="ellipse">
            <a:avLst/>
          </a:prstGeom>
          <a:solidFill>
            <a:srgbClr val="3B9E77"/>
          </a:solidFill>
          <a:ln/>
        </p:spPr>
      </p:sp>
      <p:sp>
        <p:nvSpPr>
          <p:cNvPr id="14" name="Text 12"/>
          <p:cNvSpPr/>
          <p:nvPr/>
        </p:nvSpPr>
        <p:spPr>
          <a:xfrm>
            <a:off x="2468880" y="22860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spc="800" kern="0" dirty="0">
                <a:solidFill>
                  <a:srgbClr val="F5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ONS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2514600" y="3035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3B9E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OPTICAL NAVIGATION SYSTEM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3977640"/>
            <a:ext cx="2011680" cy="0"/>
          </a:xfrm>
          <a:prstGeom prst="line">
            <a:avLst/>
          </a:prstGeom>
          <a:noFill/>
          <a:ln w="19050">
            <a:solidFill>
              <a:srgbClr val="3B9E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25196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GPS dies, the drone goes blind.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685800" y="5212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9E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Dual-use optical navigation · Field-tested · Pre-Seed · $500K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A9AA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GIS-POINT LTD (UK) ·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931152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PROBLEM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49808"/>
            <a:ext cx="10817352" cy="0"/>
          </a:xfrm>
          <a:prstGeom prst="line">
            <a:avLst/>
          </a:prstGeom>
          <a:noFill/>
          <a:ln w="12700">
            <a:solidFill>
              <a:srgbClr val="DCDD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51560"/>
            <a:ext cx="10817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 jamming makes every mission a coin flip.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1847088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Jamming is constant — and the demand is already ordered.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51460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085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46,000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685800" y="34290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GNSS jamming events recorded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3886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conflict zones, 2024 · GPS World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33088" y="2606040"/>
            <a:ext cx="0" cy="1417320"/>
          </a:xfrm>
          <a:prstGeom prst="line">
            <a:avLst/>
          </a:prstGeom>
          <a:noFill/>
          <a:ln w="12700">
            <a:solidFill>
              <a:srgbClr val="DCDD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251460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085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+300%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4389120" y="34290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YoY growth in jamming incidents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389120" y="3886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C4ADS · 2024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836408" y="2606040"/>
            <a:ext cx="0" cy="1417320"/>
          </a:xfrm>
          <a:prstGeom prst="line">
            <a:avLst/>
          </a:prstGeom>
          <a:noFill/>
          <a:ln w="12700">
            <a:solidFill>
              <a:srgbClr val="DCDD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92440" y="251460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085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30,000+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8092440" y="34290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Strike drones ordered, Ukraine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092440" y="3886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Zelensky / Umerov · 2025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85800" y="4709160"/>
            <a:ext cx="10817352" cy="0"/>
          </a:xfrm>
          <a:prstGeom prst="line">
            <a:avLst/>
          </a:prstGeom>
          <a:noFill/>
          <a:ln w="12700">
            <a:solidFill>
              <a:srgbClr val="DCDD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937760"/>
            <a:ext cx="10817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EW jams or spoofs GPS. </a:t>
            </a:r>
            <a:pPr indent="0" marL="0">
              <a:buNone/>
            </a:pPr>
            <a:r>
              <a:rPr lang="en-US" sz="1400" i="1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Drones lose coordinates, drift off course, crash, or become targets. Every platform without a satellite-independent position source is a single point of failure.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 · 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222992" y="6446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931152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49808"/>
            <a:ext cx="10817352" cy="0"/>
          </a:xfrm>
          <a:prstGeom prst="line">
            <a:avLst/>
          </a:prstGeom>
          <a:noFill/>
          <a:ln w="12700">
            <a:solidFill>
              <a:srgbClr val="DCDD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51560"/>
            <a:ext cx="10817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GPS-denied nav is becoming a requirement.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1847088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Capital, regulation, and demand are converging through 2026.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51460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085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685800" y="34290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NATO defence-GDP target by 2035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3886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 2.5% by 2027 · Hague Summit 2025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33088" y="2606040"/>
            <a:ext cx="0" cy="1417320"/>
          </a:xfrm>
          <a:prstGeom prst="line">
            <a:avLst/>
          </a:prstGeom>
          <a:noFill/>
          <a:ln w="12700">
            <a:solidFill>
              <a:srgbClr val="DCDD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251460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085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4389120" y="34290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Drone Wall IOC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389120" y="3886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GPS-denied nav becomes a spec · EU programme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836408" y="2606040"/>
            <a:ext cx="0" cy="1417320"/>
          </a:xfrm>
          <a:prstGeom prst="line">
            <a:avLst/>
          </a:prstGeom>
          <a:noFill/>
          <a:ln w="12700">
            <a:solidFill>
              <a:srgbClr val="DCDD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92440" y="251460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085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30K+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8092440" y="34290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Strike drones need GPS-denied nav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092440" y="3886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Zelensky / Umerov · 2025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85800" y="4709160"/>
            <a:ext cx="10817352" cy="0"/>
          </a:xfrm>
          <a:prstGeom prst="line">
            <a:avLst/>
          </a:prstGeom>
          <a:noFill/>
          <a:ln w="12700">
            <a:solidFill>
              <a:srgbClr val="DCDD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937760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ReArm Europe €800B + SAFE €150B shown as opportunity pipeline — not market size.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 · 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222992" y="6446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931152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SOLUTION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49808"/>
            <a:ext cx="10817352" cy="0"/>
          </a:xfrm>
          <a:prstGeom prst="line">
            <a:avLst/>
          </a:prstGeom>
          <a:noFill/>
          <a:ln w="12700">
            <a:solidFill>
              <a:srgbClr val="DCDD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51560"/>
            <a:ext cx="10817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Optical terrain-matching replaces GPS.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1847088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+ onboard compute match live terrain to a pre-loaded reference map, fused with IMU.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514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85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71600" y="249631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Absolute position, no drift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288036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Route-corridor map loaded pre-flight. Map-matching gives absolute coordinates — no satellite, no cumulative inertial drift.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263640" y="2514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85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949440" y="249631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Field-proven accuracy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49440" y="288036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m median error in real flight tests at ~200 m AGL — better than the 20–50 m mid-strike needs. Down to ~3 m in best conditions.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85800" y="42062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85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371600" y="418795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Plug-in module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71600" y="457200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Feeds the autopilot over MAVLink as an external GPS source. Works with open-standard autopilots (ArduPilot / PX4) — no operator retraining.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63640" y="42062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85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949440" y="418795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RF signature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949440" y="457200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Passive optical sensing only. Nothing radiates, so EW has nothing to detect, jam, or home in 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5800" y="5943600"/>
            <a:ext cx="10817352" cy="0"/>
          </a:xfrm>
          <a:prstGeom prst="line">
            <a:avLst/>
          </a:prstGeom>
          <a:noFill/>
          <a:ln w="12700">
            <a:solidFill>
              <a:srgbClr val="DCDD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6053328"/>
            <a:ext cx="10817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live and flight-tested on commodity cameras · working MVP in 6–9 months.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 · 2026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22992" y="6446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931152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FIELD RESULTS · AUG 2026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49808"/>
            <a:ext cx="10817352" cy="0"/>
          </a:xfrm>
          <a:prstGeom prst="line">
            <a:avLst/>
          </a:prstGeom>
          <a:noFill/>
          <a:ln w="12700">
            <a:solidFill>
              <a:srgbClr val="DCDD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51560"/>
            <a:ext cx="10817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test data: we beat the mission spec.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1847088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flights, real routes, commodity camera — verified against GPS ground truth.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51460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085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m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685800" y="3429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position error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3886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route, ~200 m AGL, 25 m/s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72968" y="2606040"/>
            <a:ext cx="0" cy="1417320"/>
          </a:xfrm>
          <a:prstGeom prst="line">
            <a:avLst/>
          </a:prstGeom>
          <a:noFill/>
          <a:ln w="12700">
            <a:solidFill>
              <a:srgbClr val="DCDD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251460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085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 m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3429000" y="3429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Best-condition accuracy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429000" y="3886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High-texture terrain segments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16168" y="2606040"/>
            <a:ext cx="0" cy="1417320"/>
          </a:xfrm>
          <a:prstGeom prst="line">
            <a:avLst/>
          </a:prstGeom>
          <a:noFill/>
          <a:ln w="12700">
            <a:solidFill>
              <a:srgbClr val="DCDD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251460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085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 ms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6172200" y="3429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Per-frame processing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172200" y="3886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 from 1 s — path to real-time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659368" y="2606040"/>
            <a:ext cx="0" cy="1417320"/>
          </a:xfrm>
          <a:prstGeom prst="line">
            <a:avLst/>
          </a:prstGeom>
          <a:noFill/>
          <a:ln w="12700">
            <a:solidFill>
              <a:srgbClr val="DCDD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15400" y="251460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20–50 m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8915400" y="34290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mission needs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915400" y="38862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Mid-strike req. — already exceeded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85800" y="4800600"/>
            <a:ext cx="10817352" cy="1234440"/>
          </a:xfrm>
          <a:prstGeom prst="rect">
            <a:avLst/>
          </a:prstGeom>
          <a:solidFill>
            <a:srgbClr val="F2F3F1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4956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85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MEANS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60120" y="5230368"/>
            <a:ext cx="10268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flights at different altitudes matched live video to the reference map at 17 m median error — on a consumer-grade camera. </a:t>
            </a:r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Mid-strike missions need 20–50 m: we already exceed the requirement, before IMU-fusion tuning and model training on accumulated flight data. Target: ≤5 m CEP at 150–200 km.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58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 · 2026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222992" y="6446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931152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HARDWARE · IN PRODUCTION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49808"/>
            <a:ext cx="10817352" cy="0"/>
          </a:xfrm>
          <a:prstGeom prst="line">
            <a:avLst/>
          </a:prstGeom>
          <a:noFill/>
          <a:ln w="12700">
            <a:solidFill>
              <a:srgbClr val="DCDD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51560"/>
            <a:ext cx="10817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chosen — manufacturing started.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1847088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Product-form decision made: integrated hardware module. First prototype batch is in manufacturing now.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5146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85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THE MODULE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04088" y="2971800"/>
            <a:ext cx="109728" cy="109728"/>
          </a:xfrm>
          <a:prstGeom prst="ellipse">
            <a:avLst/>
          </a:prstGeom>
          <a:solidFill>
            <a:srgbClr val="08543C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90779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Optical camera — </a:t>
            </a:r>
            <a:pPr indent="0" marL="0">
              <a:buNone/>
            </a:pPr>
            <a:r>
              <a:rPr lang="en-US" sz="110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day-mode now, night-mode on roadmap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04088" y="3575304"/>
            <a:ext cx="109728" cy="109728"/>
          </a:xfrm>
          <a:prstGeom prst="ellipse">
            <a:avLst/>
          </a:prstGeom>
          <a:solidFill>
            <a:srgbClr val="08543C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511296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 compute — </a:t>
            </a:r>
            <a:pPr indent="0" marL="0">
              <a:buNone/>
            </a:pPr>
            <a:r>
              <a:rPr lang="en-US" sz="110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the matching algorithm in flight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04088" y="4178808"/>
            <a:ext cx="109728" cy="109728"/>
          </a:xfrm>
          <a:prstGeom prst="ellipse">
            <a:avLst/>
          </a:prstGeom>
          <a:solidFill>
            <a:srgbClr val="08543C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1148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Encrypted map storage — </a:t>
            </a:r>
            <a:pPr indent="0" marL="0">
              <a:buNone/>
            </a:pPr>
            <a:r>
              <a:rPr lang="en-US" sz="110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maps stay inside the box — IP protected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04088" y="4782312"/>
            <a:ext cx="109728" cy="109728"/>
          </a:xfrm>
          <a:prstGeom prst="ellipse">
            <a:avLst/>
          </a:prstGeom>
          <a:solidFill>
            <a:srgbClr val="08543C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718304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MAVLink interface — </a:t>
            </a:r>
            <a:pPr indent="0" marL="0">
              <a:buNone/>
            </a:pPr>
            <a:r>
              <a:rPr lang="en-US" sz="110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presents to the autopilot as an external GPS receiver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04088" y="5385816"/>
            <a:ext cx="109728" cy="109728"/>
          </a:xfrm>
          <a:prstGeom prst="ellipse">
            <a:avLst/>
          </a:prstGeom>
          <a:solidFill>
            <a:srgbClr val="08543C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532180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IMU fusion — </a:t>
            </a:r>
            <a:pPr indent="0" marL="0">
              <a:buNone/>
            </a:pPr>
            <a:r>
              <a:rPr lang="en-US" sz="110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platform IMU; tolerates 10–20° camera misalignment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63640" y="2468880"/>
            <a:ext cx="5239512" cy="3429000"/>
          </a:xfrm>
          <a:prstGeom prst="rect">
            <a:avLst/>
          </a:prstGeom>
          <a:solidFill>
            <a:srgbClr val="F2F3F1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26517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85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STATUS · AUG 2026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37960" y="3035808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5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589520" y="3035808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prototype units in assembly — 3D-printed enclosure, branded, flight-ready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37960" y="373075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5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AUG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589520" y="3730752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units built and flying at a partner test range near Lviv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537960" y="442569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5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589520" y="4425696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10-unit batch for OEM field trials on partner ISR aircraft (100 km linear routes)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537960" y="512064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5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589520" y="512064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$1,000–1,500 per unit at prototype volumes — compute, 1 TB storage, camera, power &amp; cooling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85800" y="6080760"/>
            <a:ext cx="10817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hardware: OEMs asked for a calibrated, install-and-fly box — and onboard encrypted maps beat a web platform on security.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858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 · 2026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222992" y="6446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931152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MOAT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49808"/>
            <a:ext cx="10817352" cy="0"/>
          </a:xfrm>
          <a:prstGeom prst="line">
            <a:avLst/>
          </a:prstGeom>
          <a:noFill/>
          <a:ln w="12700">
            <a:solidFill>
              <a:srgbClr val="DCDD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51560"/>
            <a:ext cx="10817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approach works — our map IP is the moat.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1847088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 algorithms will commoditise. Sovereign, fresh, GIS-grade maps will not.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46888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085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m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685800" y="33832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ONS — own field result, Aug 2026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3840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error, real flights vs GPS ground truth · target ≤5 m CEP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007608" y="2560320"/>
            <a:ext cx="0" cy="1417320"/>
          </a:xfrm>
          <a:prstGeom prst="line">
            <a:avLst/>
          </a:prstGeom>
          <a:noFill/>
          <a:ln w="12700">
            <a:solidFill>
              <a:srgbClr val="DCDD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63640" y="246888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 m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6263640" y="33832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benchmark (Theseus)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263640" y="3840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Median, 564 km optical-nav test, Mar 2026 — validates the category, not our metric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5800" y="4434840"/>
            <a:ext cx="10817352" cy="0"/>
          </a:xfrm>
          <a:prstGeom prst="line">
            <a:avLst/>
          </a:prstGeom>
          <a:noFill/>
          <a:ln w="12700">
            <a:solidFill>
              <a:srgbClr val="DCDD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663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Sovereign map layer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85800" y="5047488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GIS-grade reference maps per theatre — no Maxar lock-in, available where US primes can't go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474720" y="4663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 AO layer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474720" y="5047488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subscription keeps the area-of-operations layer current as terrain changes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263640" y="4663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confidence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263640" y="5047488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+ confidence output and an honest “no fix” — a slot no competitor publishes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052560" y="4663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Career-long nav team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052560" y="5047488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45+ combined years in geospatial, navigation and UAV systems; national-scale cartography exit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858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 ·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222992" y="6446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931152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MARKET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49808"/>
            <a:ext cx="10817352" cy="0"/>
          </a:xfrm>
          <a:prstGeom prst="line">
            <a:avLst/>
          </a:prstGeom>
          <a:noFill/>
          <a:ln w="12700">
            <a:solidFill>
              <a:srgbClr val="DCDD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51560"/>
            <a:ext cx="10817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$334M niche inside a $4.8B PNT market.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1847088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≈10,000 nav units per month needed on the UA front alone — validated in 20+ OEM interviews.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51460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085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$4.8B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685800" y="34290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· 2030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3886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Assured-PNT market · 24–29% CAGR · Mordor 2025 / TBRC 2026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33088" y="2606040"/>
            <a:ext cx="0" cy="1417320"/>
          </a:xfrm>
          <a:prstGeom prst="line">
            <a:avLst/>
          </a:prstGeom>
          <a:noFill/>
          <a:ln w="12700">
            <a:solidFill>
              <a:srgbClr val="DCDD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251460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085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$334M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4389120" y="34290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 · 2033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389120" y="3886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GPS-denied drone-nav niche, from $149M (2024) · SRI 2026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836408" y="2606040"/>
            <a:ext cx="0" cy="1417320"/>
          </a:xfrm>
          <a:prstGeom prst="line">
            <a:avLst/>
          </a:prstGeom>
          <a:noFill/>
          <a:ln w="12700">
            <a:solidFill>
              <a:srgbClr val="DCDD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92440" y="251460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$6M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8092440" y="34290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 · Year 1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092440" y="3886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 units × $3,000 · bottom-up, ONS est.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85800" y="4709160"/>
            <a:ext cx="10817352" cy="1097280"/>
          </a:xfrm>
          <a:prstGeom prst="rect">
            <a:avLst/>
          </a:prstGeom>
          <a:solidFill>
            <a:srgbClr val="F2F3F1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4919472"/>
            <a:ext cx="10268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signal from the field: </a:t>
            </a:r>
            <a:pPr indent="0" marL="0">
              <a:buNone/>
            </a:pPr>
            <a:r>
              <a:rPr lang="en-US" sz="125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OEM interviews (Jul–Aug 2026) put UA demand at ~10,000 units/month for mid- and deep-strike platforms alone — and ~300 units/month are sellable today through our existing warm OEM network.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858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 · 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222992" y="6446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931152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APPLICATIONS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49808"/>
            <a:ext cx="10817352" cy="0"/>
          </a:xfrm>
          <a:prstGeom prst="line">
            <a:avLst/>
          </a:prstGeom>
          <a:noFill/>
          <a:ln w="12700">
            <a:solidFill>
              <a:srgbClr val="DCDD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51560"/>
            <a:ext cx="10817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Defence beachhead first, civil dual-use next.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1847088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software stack across platform classes — once MVP validates.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468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85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· YEARS 1–2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8163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 UAV OEMs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3163824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Frontline serial-production lines — 280+ leads in pipeline, first replies in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0" y="28163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Allied defence ministries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389120" y="3163824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 MoD · USAF · allied procurement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06240" y="2816352"/>
            <a:ext cx="0" cy="960120"/>
          </a:xfrm>
          <a:prstGeom prst="line">
            <a:avLst/>
          </a:prstGeom>
          <a:noFill/>
          <a:ln w="12700">
            <a:solidFill>
              <a:srgbClr val="DCDD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28163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OEM integrators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092440" y="3163824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Drone primes — Rheinmetall, Northrop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909560" y="2816352"/>
            <a:ext cx="0" cy="960120"/>
          </a:xfrm>
          <a:prstGeom prst="line">
            <a:avLst/>
          </a:prstGeom>
          <a:noFill/>
          <a:ln w="12700">
            <a:solidFill>
              <a:srgbClr val="DCDD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4069080"/>
            <a:ext cx="10817352" cy="0"/>
          </a:xfrm>
          <a:prstGeom prst="line">
            <a:avLst/>
          </a:prstGeom>
          <a:noFill/>
          <a:ln w="12700">
            <a:solidFill>
              <a:srgbClr val="DCDD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251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85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 · DRONE CLASSES · YEARS 2+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461772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ISR drones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85800" y="49377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GPS-denied recon missions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474720" y="461772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Deep-strike UAVs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474720" y="49377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Long-range autonomous targeting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263640" y="461772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aviation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263640" y="49377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GNSS-loss backup navigation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052560" y="461772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Swarm formations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052560" y="49377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Coordinated multi-platform ops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85800" y="5760720"/>
            <a:ext cx="10817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Civil dual-use: Assured PNT · Logistics / BVLOS · Aviation backup · Emergency response.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858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 · 2026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222992" y="6446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931152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· BUSINESS MODEL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49808"/>
            <a:ext cx="10817352" cy="0"/>
          </a:xfrm>
          <a:prstGeom prst="line">
            <a:avLst/>
          </a:prstGeom>
          <a:noFill/>
          <a:ln w="12700">
            <a:solidFill>
              <a:srgbClr val="DCDD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51560"/>
            <a:ext cx="10817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plus recurring map subscription.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1847088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validated in 20+ OEM &amp; operator interviews, Jul–Aug 2026.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560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+ annual maps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8803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85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$3,000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85800" y="36118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Per-unit benchmark price + recurring map subscription. BOM $1.0–1.5K leaves hardware margin plus software-grade recurring revenue.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06240" y="2606040"/>
            <a:ext cx="0" cy="1920240"/>
          </a:xfrm>
          <a:prstGeom prst="line">
            <a:avLst/>
          </a:prstGeom>
          <a:noFill/>
          <a:ln w="12700">
            <a:solidFill>
              <a:srgbClr val="DCDD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2560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accuracy tier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89120" y="28803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85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3–5 m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389120" y="36118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Correctors / last-mile precision for platforms where accuracy beats price — the price-insensitive segment.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909560" y="2606040"/>
            <a:ext cx="0" cy="1920240"/>
          </a:xfrm>
          <a:prstGeom prst="line">
            <a:avLst/>
          </a:prstGeom>
          <a:noFill/>
          <a:ln w="12700">
            <a:solidFill>
              <a:srgbClr val="DCDD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92440" y="2560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OEM integrators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92440" y="28803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85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Royalty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8092440" y="36118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Per-platform royalty + IP licensing for primes integrating the stack at scale.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85800" y="4892040"/>
            <a:ext cx="10817352" cy="914400"/>
          </a:xfrm>
          <a:prstGeom prst="rect">
            <a:avLst/>
          </a:prstGeom>
          <a:solidFill>
            <a:srgbClr val="F2F3F1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5074920"/>
            <a:ext cx="10268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Y1 benchmark: 2,000 units × $3,000 = $6M. </a:t>
            </a:r>
            <a:pPr indent="0" marL="0">
              <a:buNone/>
            </a:pPr>
            <a:r>
              <a:rPr lang="en-US" sz="120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Interviews confirm a two-tier market — price-critical mass (mid-strike) and price-insensitive precision — and the module + subscription model serves both.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 · 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222992" y="6446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931152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· ROADMAP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49808"/>
            <a:ext cx="10817352" cy="0"/>
          </a:xfrm>
          <a:prstGeom prst="line">
            <a:avLst/>
          </a:prstGeom>
          <a:noFill/>
          <a:ln w="12700">
            <a:solidFill>
              <a:srgbClr val="DCDD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51560"/>
            <a:ext cx="10817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in production, MVP in 6–9 months.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1847088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phase converts capital into measurable validation. Path to Seed is clear.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57860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· DONE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85800" y="285292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algorithm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5800" y="3291840"/>
            <a:ext cx="457200" cy="0"/>
          </a:xfrm>
          <a:prstGeom prst="line">
            <a:avLst/>
          </a:prstGeom>
          <a:noFill/>
          <a:ln w="19050">
            <a:solidFill>
              <a:srgbClr val="0854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456432"/>
            <a:ext cx="2560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Map-matching algorithm live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flights: 17 m median, ~3 m best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 ms/frame processing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53492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5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Bootstrapped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64992" y="2450592"/>
            <a:ext cx="2825496" cy="3291840"/>
          </a:xfrm>
          <a:prstGeom prst="rect">
            <a:avLst/>
          </a:prstGeom>
          <a:solidFill>
            <a:srgbClr val="F2F3F1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257860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85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· NOW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474720" y="285292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prototypes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474720" y="3291840"/>
            <a:ext cx="457200" cy="0"/>
          </a:xfrm>
          <a:prstGeom prst="line">
            <a:avLst/>
          </a:prstGeom>
          <a:noFill/>
          <a:ln w="19050">
            <a:solidFill>
              <a:srgbClr val="0854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3456432"/>
            <a:ext cx="2560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units in manufacturing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units flying by end of Aug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MAVLink external-GPS integration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range secured (Lviv)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474720" y="53492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5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 $500K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63640" y="257860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· M6–M9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263640" y="285292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MVP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263640" y="3291840"/>
            <a:ext cx="457200" cy="0"/>
          </a:xfrm>
          <a:prstGeom prst="line">
            <a:avLst/>
          </a:prstGeom>
          <a:noFill/>
          <a:ln w="19050">
            <a:solidFill>
              <a:srgbClr val="0854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3456432"/>
            <a:ext cx="2560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GPS-free flight validated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≤5 m CEP target met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10-unit batch in OEM trials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Night-mode prototype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263640" y="53492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5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UK DASA Open Call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052560" y="257860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 · M9–M12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052560" y="285292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round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052560" y="3291840"/>
            <a:ext cx="457200" cy="0"/>
          </a:xfrm>
          <a:prstGeom prst="line">
            <a:avLst/>
          </a:prstGeom>
          <a:noFill/>
          <a:ln w="19050">
            <a:solidFill>
              <a:srgbClr val="0854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52560" y="3456432"/>
            <a:ext cx="2560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LOI × 3–5 from UA OEMs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DASA / DIANA decision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raise launched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052560" y="53492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5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$3M–$3.5M target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58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 · 2026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222992" y="6446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931152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· TEAM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49808"/>
            <a:ext cx="10817352" cy="0"/>
          </a:xfrm>
          <a:prstGeom prst="line">
            <a:avLst/>
          </a:prstGeom>
          <a:noFill/>
          <a:ln w="12700">
            <a:solidFill>
              <a:srgbClr val="DCDD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51560"/>
            <a:ext cx="10817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founders. Five years together.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1847088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45+ combined years in geospatial, navigation, and UAV systems.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560320"/>
            <a:ext cx="731520" cy="731520"/>
          </a:xfrm>
          <a:prstGeom prst="ellipse">
            <a:avLst/>
          </a:prstGeom>
          <a:ln w="15875">
            <a:solidFill>
              <a:srgbClr val="0854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5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85800" y="34564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85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 YEARS GEOSPATIAL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37307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Eugene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" y="4114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 · Co-Founder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85800" y="44348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 national-scale cartography company 2016–2023. Founded GIS-POINT (UK), maker of FLY BY.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06240" y="2560320"/>
            <a:ext cx="0" cy="2743200"/>
          </a:xfrm>
          <a:prstGeom prst="line">
            <a:avLst/>
          </a:prstGeom>
          <a:noFill/>
          <a:ln w="12700">
            <a:solidFill>
              <a:srgbClr val="DCDD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0" y="2560320"/>
            <a:ext cx="731520" cy="731520"/>
          </a:xfrm>
          <a:prstGeom prst="ellipse">
            <a:avLst/>
          </a:prstGeom>
          <a:ln w="15875">
            <a:solidFill>
              <a:srgbClr val="0854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5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389120" y="34564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85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ENGINEERING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389120" y="37307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Andrew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389120" y="4114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CTO · Co-Founder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389120" y="44348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10+ years scalable software systems. Owner of ONS algorithms — map-matching, IMU fusion, autopilot integration.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909560" y="2560320"/>
            <a:ext cx="0" cy="2743200"/>
          </a:xfrm>
          <a:prstGeom prst="line">
            <a:avLst/>
          </a:prstGeom>
          <a:noFill/>
          <a:ln w="12700">
            <a:solidFill>
              <a:srgbClr val="DCDD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92440" y="2560320"/>
            <a:ext cx="731520" cy="731520"/>
          </a:xfrm>
          <a:prstGeom prst="ellipse">
            <a:avLst/>
          </a:prstGeom>
          <a:ln w="15875">
            <a:solidFill>
              <a:srgbClr val="0854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9244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5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8092440" y="34564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85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YEARS · PRIOR EXIT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092440" y="37307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Alex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092440" y="4114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Chief Scientific Advisor · Co-Founder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092440" y="44348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PhD, 30+ years navigation &amp; UAV systems. Built and exited a prior UAV company. Chair, All-Ukrainian AeroGeodetic Association.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5800" y="5577840"/>
            <a:ext cx="10817352" cy="0"/>
          </a:xfrm>
          <a:prstGeom prst="line">
            <a:avLst/>
          </a:prstGeom>
          <a:noFill/>
          <a:ln w="12700">
            <a:solidFill>
              <a:srgbClr val="DCDD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5687568"/>
            <a:ext cx="10817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Together since 2021 — the team that builds the maps now builds the navigation. Lean, capital-efficient.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858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 · 2026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222992" y="6446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931152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· ASK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49808"/>
            <a:ext cx="10817352" cy="0"/>
          </a:xfrm>
          <a:prstGeom prst="line">
            <a:avLst/>
          </a:prstGeom>
          <a:noFill/>
          <a:ln w="12700">
            <a:solidFill>
              <a:srgbClr val="DCDD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51560"/>
            <a:ext cx="10817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Pre-Seed: $500K from prototype to MVP.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1847088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· $2.25M valuation cap · 20% discount · founders co-investing alongside.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514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85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 FUNDS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2962656"/>
            <a:ext cx="2377440" cy="237744"/>
          </a:xfrm>
          <a:prstGeom prst="rect">
            <a:avLst/>
          </a:prstGeom>
          <a:solidFill>
            <a:srgbClr val="F2F3F1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2962656"/>
            <a:ext cx="2377440" cy="237744"/>
          </a:xfrm>
          <a:prstGeom prst="rect">
            <a:avLst/>
          </a:prstGeom>
          <a:solidFill>
            <a:srgbClr val="08543C"/>
          </a:solidFill>
          <a:ln/>
        </p:spPr>
      </p:sp>
      <p:sp>
        <p:nvSpPr>
          <p:cNvPr id="10" name="Text 8"/>
          <p:cNvSpPr/>
          <p:nvPr/>
        </p:nvSpPr>
        <p:spPr>
          <a:xfrm>
            <a:off x="758952" y="296265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46120" y="294436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— algorithm, sensor fusion, integration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85800" y="3465576"/>
            <a:ext cx="2377440" cy="237744"/>
          </a:xfrm>
          <a:prstGeom prst="rect">
            <a:avLst/>
          </a:prstGeom>
          <a:solidFill>
            <a:srgbClr val="F2F3F1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3465576"/>
            <a:ext cx="1188720" cy="237744"/>
          </a:xfrm>
          <a:prstGeom prst="rect">
            <a:avLst/>
          </a:prstGeom>
          <a:solidFill>
            <a:srgbClr val="08543C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" y="346557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46120" y="34472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testing &amp; prototype manufacturing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5800" y="3968496"/>
            <a:ext cx="2377440" cy="237744"/>
          </a:xfrm>
          <a:prstGeom prst="rect">
            <a:avLst/>
          </a:prstGeom>
          <a:solidFill>
            <a:srgbClr val="F2F3F1"/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" y="3968496"/>
            <a:ext cx="891540" cy="237744"/>
          </a:xfrm>
          <a:prstGeom prst="rect">
            <a:avLst/>
          </a:prstGeom>
          <a:solidFill>
            <a:srgbClr val="08543C"/>
          </a:solidFill>
          <a:ln/>
        </p:spPr>
      </p:sp>
      <p:sp>
        <p:nvSpPr>
          <p:cNvPr id="18" name="Text 16"/>
          <p:cNvSpPr/>
          <p:nvPr/>
        </p:nvSpPr>
        <p:spPr>
          <a:xfrm>
            <a:off x="758952" y="396849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46120" y="39502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Geo-data — SCOUT map layer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85800" y="4471416"/>
            <a:ext cx="2377440" cy="237744"/>
          </a:xfrm>
          <a:prstGeom prst="rect">
            <a:avLst/>
          </a:prstGeom>
          <a:solidFill>
            <a:srgbClr val="F2F3F1"/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" y="4471416"/>
            <a:ext cx="594360" cy="237744"/>
          </a:xfrm>
          <a:prstGeom prst="rect">
            <a:avLst/>
          </a:prstGeom>
          <a:solidFill>
            <a:srgbClr val="08543C"/>
          </a:solidFill>
          <a:ln/>
        </p:spPr>
      </p:sp>
      <p:sp>
        <p:nvSpPr>
          <p:cNvPr id="22" name="Text 20"/>
          <p:cNvSpPr/>
          <p:nvPr/>
        </p:nvSpPr>
        <p:spPr>
          <a:xfrm>
            <a:off x="758952" y="447141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46120" y="44531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&amp; IP — patents UK + EU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85800" y="4974336"/>
            <a:ext cx="2377440" cy="237744"/>
          </a:xfrm>
          <a:prstGeom prst="rect">
            <a:avLst/>
          </a:prstGeom>
          <a:solidFill>
            <a:srgbClr val="F2F3F1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" y="4974336"/>
            <a:ext cx="594360" cy="237744"/>
          </a:xfrm>
          <a:prstGeom prst="rect">
            <a:avLst/>
          </a:prstGeom>
          <a:solidFill>
            <a:srgbClr val="08543C"/>
          </a:solidFill>
          <a:ln/>
        </p:spPr>
      </p:sp>
      <p:sp>
        <p:nvSpPr>
          <p:cNvPr id="26" name="Text 24"/>
          <p:cNvSpPr/>
          <p:nvPr/>
        </p:nvSpPr>
        <p:spPr>
          <a:xfrm>
            <a:off x="758952" y="497433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46120" y="49560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&amp; tooling — dev infrastructure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85800" y="5477256"/>
            <a:ext cx="2377440" cy="237744"/>
          </a:xfrm>
          <a:prstGeom prst="rect">
            <a:avLst/>
          </a:prstGeom>
          <a:solidFill>
            <a:srgbClr val="F2F3F1"/>
          </a:solidFill>
          <a:ln/>
        </p:spPr>
      </p:sp>
      <p:sp>
        <p:nvSpPr>
          <p:cNvPr id="29" name="Shape 27"/>
          <p:cNvSpPr/>
          <p:nvPr/>
        </p:nvSpPr>
        <p:spPr>
          <a:xfrm>
            <a:off x="685800" y="5477256"/>
            <a:ext cx="365760" cy="237744"/>
          </a:xfrm>
          <a:prstGeom prst="rect">
            <a:avLst/>
          </a:prstGeom>
          <a:solidFill>
            <a:srgbClr val="08543C"/>
          </a:solidFill>
          <a:ln/>
        </p:spPr>
      </p:sp>
      <p:sp>
        <p:nvSpPr>
          <p:cNvPr id="30" name="Text 28"/>
          <p:cNvSpPr/>
          <p:nvPr/>
        </p:nvSpPr>
        <p:spPr>
          <a:xfrm>
            <a:off x="758952" y="547725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46120" y="545896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&amp; travel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178040" y="2468880"/>
            <a:ext cx="4325112" cy="3429000"/>
          </a:xfrm>
          <a:prstGeom prst="rect">
            <a:avLst/>
          </a:prstGeom>
          <a:solidFill>
            <a:srgbClr val="F2F3F1"/>
          </a:solidFill>
          <a:ln/>
        </p:spPr>
      </p:sp>
      <p:sp>
        <p:nvSpPr>
          <p:cNvPr id="33" name="Text 31"/>
          <p:cNvSpPr/>
          <p:nvPr/>
        </p:nvSpPr>
        <p:spPr>
          <a:xfrm>
            <a:off x="7452360" y="2651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85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MOMENTUM &amp; NON-DILUTIVE PIPELINE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452360" y="303580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85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8595360" y="3054096"/>
            <a:ext cx="2788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accelerator &amp; VC applications submitted (US, EU, UA) — decisions from late Sep 2026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452360" y="37490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85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280+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8595360" y="3767328"/>
            <a:ext cx="2788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OEM leads in outreach; first interested replies, expo meetings booked (MSPO Poland, Sep)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452360" y="446227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85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£350K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8595360" y="4480560"/>
            <a:ext cx="2788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 DASA Open Call — defence-tech, planned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452360" y="517550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85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€150K+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8595360" y="5193792"/>
            <a:ext cx="2788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NATO DIANA / EU dual-use grants — co-bid with UA partner, planned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85800" y="6053328"/>
            <a:ext cx="10817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6–9 months from close to working MVP: GPS-free flight validated, ≤5 m CEP target, 10-unit OEM trial fleet.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858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 · 2026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222992" y="6446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931152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A9AA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· EXIT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49808"/>
            <a:ext cx="10817352" cy="0"/>
          </a:xfrm>
          <a:prstGeom prst="line">
            <a:avLst/>
          </a:prstGeom>
          <a:noFill/>
          <a:ln w="12700">
            <a:solidFill>
              <a:srgbClr val="4546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51560"/>
            <a:ext cx="10817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Defence-nav M&amp;A is funding the path to exit.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1847088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AA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M&amp;A and capital flows in defence-tech navigation.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697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B9E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71600" y="267919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acquisition by drone prime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304495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AA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Anduril, Shield AI, Northrop, Rheinmetall — actively acquiring nav stacks.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001000" y="269748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3B9E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Auterion $130M Series B · ~$600M val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85800" y="3611880"/>
            <a:ext cx="10817352" cy="0"/>
          </a:xfrm>
          <a:prstGeom prst="line">
            <a:avLst/>
          </a:prstGeom>
          <a:noFill/>
          <a:ln w="12700">
            <a:solidFill>
              <a:srgbClr val="4546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840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B9E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371600" y="382219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Acquisition by avionics / defence integrator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71600" y="418795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AA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Garmin, Honeywell, BAE, Leonardo — building GPS-denied product lines.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001000" y="384048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3B9E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Xona $320M raised · Asio $15M + Anduril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5800" y="4754880"/>
            <a:ext cx="10817352" cy="0"/>
          </a:xfrm>
          <a:prstGeom prst="line">
            <a:avLst/>
          </a:prstGeom>
          <a:noFill/>
          <a:ln w="12700">
            <a:solidFill>
              <a:srgbClr val="4546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983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B9E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371600" y="496519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A → B → IPO path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71600" y="533095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AA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beachhead converts to $20M+ ARR by Y4 — defence-tech IPO window.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001000" y="498348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3B9E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Anello $25M + $20M DoD APFIT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858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9AA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 · 2026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22992" y="6446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A9AA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931152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COMPETITION · AUG 2026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49808"/>
            <a:ext cx="10817352" cy="0"/>
          </a:xfrm>
          <a:prstGeom prst="line">
            <a:avLst/>
          </a:prstGeom>
          <a:noFill/>
          <a:ln w="12700">
            <a:solidFill>
              <a:srgbClr val="DCDD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51560"/>
            <a:ext cx="10817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owns the map + honesty slot.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1783080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Landscape scan, Aug 2026 — nobody offers a sovereign fresh map with a transparent CEP.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3317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606040" y="233172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HQ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566160" y="233172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Funding / traction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035040" y="233172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(denied)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01000" y="233172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vs ONS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5800" y="2642616"/>
            <a:ext cx="10817352" cy="0"/>
          </a:xfrm>
          <a:prstGeom prst="line">
            <a:avLst/>
          </a:prstGeom>
          <a:noFill/>
          <a:ln w="12700">
            <a:solidFill>
              <a:srgbClr val="DCDD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752344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Theseus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606040" y="2752344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566160" y="2752344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$4.3M seed · SOCOM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035040" y="2752344"/>
            <a:ext cx="1874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 m median / 564 km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001000" y="2752344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Closest direct comp — same approach, no own map, no confidence output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85800" y="3319272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Vermeer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606040" y="3319272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US–UA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566160" y="3319272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$10M Series A (Draper)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035040" y="3319272"/>
            <a:ext cx="1874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disclosed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001000" y="3319272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Combat-proven kit at ~$20K/unit — not attritable-priced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85800" y="3886200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Asio Tech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606040" y="3886200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Israel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566160" y="3886200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$15M + Anduril · 10K combat hrs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035040" y="3886200"/>
            <a:ext cx="1874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drift-free, CEP n/d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001000" y="3886200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module benchmark — CEP &amp; price not published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85800" y="445312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Twist Robotics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606040" y="4453128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Ukraine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566160" y="4453128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500K km · ~25K sorties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035040" y="4453128"/>
            <a:ext cx="1874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~20 m, no cumulative drift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001000" y="4453128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 UA incumbent — we beat on accuracy target &amp; fresh map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85800" y="5020056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Delian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606040" y="5020056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Greece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566160" y="5020056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~$20M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035040" y="5020056"/>
            <a:ext cx="1874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≤15 m, ≤0.1% error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001000" y="5020056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Deep-strike focus — adjacent to our phase 2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76072" y="5550408"/>
            <a:ext cx="11036808" cy="566928"/>
          </a:xfrm>
          <a:prstGeom prst="rect">
            <a:avLst/>
          </a:prstGeom>
          <a:solidFill>
            <a:srgbClr val="F2F3F1"/>
          </a:solidFill>
          <a:ln/>
        </p:spPr>
      </p:sp>
      <p:sp>
        <p:nvSpPr>
          <p:cNvPr id="39" name="Text 37"/>
          <p:cNvSpPr/>
          <p:nvPr/>
        </p:nvSpPr>
        <p:spPr>
          <a:xfrm>
            <a:off x="685800" y="5586984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5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ONS / FLY BY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606040" y="5586984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UK–UA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566160" y="5586984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$500K Pre-Seed (this round)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035040" y="5586984"/>
            <a:ext cx="1874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m field-tested · ≤5 m target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8001000" y="5586984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Sovereign fresh map IP + honest confidence + attritable price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85800" y="6199632"/>
            <a:ext cx="10817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open reporting Aug 2026 (Theseus field report, Brave1, Draper, company disclosures). Independent benchmarks are not ONS results.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858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 · 2026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0222992" y="6446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76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/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2026-08-21T07:04:01Z</dcterms:created>
  <dcterms:modified xsi:type="dcterms:W3CDTF">2026-08-21T07:04:01Z</dcterms:modified>
</cp:coreProperties>
</file>