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777240"/>
            <a:ext cx="5303520" cy="5303520"/>
          </a:xfrm>
          <a:prstGeom prst="ellipse">
            <a:avLst/>
          </a:prstGeom>
          <a:ln w="12700">
            <a:solidFill>
              <a:srgbClr val="1E30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0" y="1463040"/>
            <a:ext cx="3931920" cy="3931920"/>
          </a:xfrm>
          <a:prstGeom prst="ellipse">
            <a:avLst/>
          </a:prstGeom>
          <a:ln w="12700">
            <a:solidFill>
              <a:srgbClr val="1E30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2148840"/>
            <a:ext cx="2560320" cy="2560320"/>
          </a:xfrm>
          <a:prstGeom prst="ellipse">
            <a:avLst/>
          </a:prstGeom>
          <a:ln w="12700">
            <a:solidFill>
              <a:srgbClr val="1E30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834640"/>
            <a:ext cx="1188720" cy="1188720"/>
          </a:xfrm>
          <a:prstGeom prst="ellipse">
            <a:avLst/>
          </a:prstGeom>
          <a:ln w="19050">
            <a:solidFill>
              <a:srgbClr val="4ADE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54896" y="3374136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51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400" kern="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 BY</a:t>
            </a:r>
            <a:pPr indent="0" marL="0">
              <a:buNone/>
            </a:pPr>
            <a:r>
              <a:rPr lang="en-US" sz="2400" b="1" spc="4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7498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GPS dies,</a:t>
            </a:r>
            <a:endParaRPr lang="en-US" sz="5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drone goes blind.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it flying — with passive optical terrain-matching that needs no satellite.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3063240" cy="868680"/>
          </a:xfrm>
          <a:prstGeom prst="roundRect">
            <a:avLst>
              <a:gd name="adj" fmla="val 7368"/>
            </a:avLst>
          </a:prstGeom>
          <a:solidFill>
            <a:srgbClr val="121F33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5413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 median error in real flights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31920" y="5029200"/>
            <a:ext cx="3063240" cy="868680"/>
          </a:xfrm>
          <a:prstGeom prst="roundRect">
            <a:avLst>
              <a:gd name="adj" fmla="val 7368"/>
            </a:avLst>
          </a:prstGeom>
          <a:solidFill>
            <a:srgbClr val="121F33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0" y="5413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hardware prototypes being built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23760" y="5029200"/>
            <a:ext cx="3063240" cy="868680"/>
          </a:xfrm>
          <a:prstGeom prst="roundRect">
            <a:avLst>
              <a:gd name="adj" fmla="val 7368"/>
            </a:avLst>
          </a:prstGeom>
          <a:solidFill>
            <a:srgbClr val="121F33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06640" y="5413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· SAFE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Dual-use optical navigation · GIS-POINT LTD (UK)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01 ·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jamming makes every mission a coin flip.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Jamming is constant — and the demand is already ordered.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46,000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jamming events recorded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conflict zones, 2024 · GPS World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growth in jamming incidents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C4ADS · 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7532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 drones ordered, Ukraine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Zelensky / Umerov · 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10908792" cy="1143000"/>
          </a:xfrm>
          <a:prstGeom prst="roundRect">
            <a:avLst>
              <a:gd name="adj" fmla="val 6400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81728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 jams or spoofs GPS. </a:t>
            </a:r>
            <a:pPr indent="0" marL="0">
              <a:buNone/>
            </a:pPr>
            <a:r>
              <a:rPr lang="en-US" sz="14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lose coordinates, drift off course, crash, or become targets. Every platform without a satellite-independent position source is a single point of failure.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02 · 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GPS-denied nav is becoming a requirement.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Capital, regulation, and demand are converging through 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NATO defence-GDP target by 2035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2.5% by 2027 · Hague Summit 2025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Drone Wall IOC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GPS-denied nav becomes a spec · EU programme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30K+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7532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 drones ordered need GPS-denied nav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Zelensky / Umerov · 2025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ReArm Europe €800B + SAFE €150B shown as opportunity pipeline — not market size.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03 ·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Optical terrain-matching replaces GPS.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+ onboard compute match live terrain to a pre-loaded reference map, fused with IMU.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121F3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56032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24963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position, no drift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54480" y="28346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Route-corridor map loaded pre-flight. Map-matching gives absolute coordinates — no satellite, no cumulative inertial drift.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233172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121F33"/>
          </a:solidFill>
          <a:ln/>
        </p:spPr>
      </p:sp>
      <p:sp>
        <p:nvSpPr>
          <p:cNvPr id="11" name="Shape 9"/>
          <p:cNvSpPr/>
          <p:nvPr/>
        </p:nvSpPr>
        <p:spPr>
          <a:xfrm>
            <a:off x="6446520" y="256032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4963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Field-proven accuracy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32320" y="28346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 median error in real flight tests at ~200 m AGL — better than the 20–50 m the mid-strike mission requires. Down to ~3 m in best conditions.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121F33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54480" y="42793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module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autopilot over MAVLink as an external GPS source. Works with open-standard autopilots (ArduPilot / PX4) — no operator retraining.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5349240" cy="1600200"/>
          </a:xfrm>
          <a:prstGeom prst="roundRect">
            <a:avLst>
              <a:gd name="adj" fmla="val 4571"/>
            </a:avLst>
          </a:prstGeom>
          <a:solidFill>
            <a:srgbClr val="121F3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46520" y="434340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42793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RF signature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3232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optical sensing only. Nothing radiates, so EW has nothing to detect, jam, or home in on.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60350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live and flight-tested on commodity cameras · working MVP in 6–9 months.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04 · FIELD RESULTS · AUG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test data: we beat the mission spec.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flights, real routes, commodity camera — verified against GPS ground truth.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871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25526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position error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route, ~200 m AGL, 25 m/s cruise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2286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24871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57600" y="325526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Best-condition accuracy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3566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High-texture terrain segments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286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248716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ms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46520" y="325526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processing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356616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1 s — path to real-time onboard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06840" y="228600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24871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 m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35440" y="3255264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mission needs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440" y="356616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Mid-strike requirement — already exceeded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48056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645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test flights at different altitudes matched live video to the reference map with a 17 m median error — on a consumer-grade camera taped to the airframe. </a:t>
            </a:r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Military mid-strike missions need 20–50 m: we already exceed the requirement, before IMU fusion tuning and model training on accumulated flight data. Target: ≤5 m CEP at 150–200 km.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05 · HARDWARE · IN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chosen — manufacturing started.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Product-form decision made: integrated hardware module. First prototype batch is in manufacturing now.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3429000"/>
          </a:xfrm>
          <a:prstGeom prst="roundRect">
            <a:avLst>
              <a:gd name="adj" fmla="val 2133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MODULE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8" name="Text 6"/>
          <p:cNvSpPr/>
          <p:nvPr/>
        </p:nvSpPr>
        <p:spPr>
          <a:xfrm>
            <a:off x="1170432" y="28529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 camera — </a:t>
            </a:r>
            <a:pPr indent="0" marL="0">
              <a:buNone/>
            </a:pPr>
            <a:r>
              <a:rPr lang="en-US" sz="11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day-mode now, night-mode on roadmap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465576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1170432" y="34198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compute — </a:t>
            </a:r>
            <a:pPr indent="0" marL="0">
              <a:buNone/>
            </a:pPr>
            <a:r>
              <a:rPr lang="en-US" sz="11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matching algorithm in flight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4032504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1170432" y="39867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map storage — </a:t>
            </a:r>
            <a:pPr indent="0" marL="0">
              <a:buNone/>
            </a:pPr>
            <a:r>
              <a:rPr lang="en-US" sz="11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route-corridor reference maps stay inside the box — IP protected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599432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MAVLink interface — </a:t>
            </a:r>
            <a:pPr indent="0" marL="0">
              <a:buNone/>
            </a:pPr>
            <a:r>
              <a:rPr lang="en-US" sz="11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itself to the autopilot as an external GPS receiver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5166360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6" name="Text 14"/>
          <p:cNvSpPr/>
          <p:nvPr/>
        </p:nvSpPr>
        <p:spPr>
          <a:xfrm>
            <a:off x="1170432" y="5120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 fusion — </a:t>
            </a:r>
            <a:pPr indent="0" marL="0">
              <a:buNone/>
            </a:pPr>
            <a:r>
              <a:rPr lang="en-US" sz="11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platform IMU over MAVLink; tolerates 10–20° camera misalignment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331720"/>
            <a:ext cx="5349240" cy="3429000"/>
          </a:xfrm>
          <a:prstGeom prst="roundRect">
            <a:avLst>
              <a:gd name="adj" fmla="val 2133"/>
            </a:avLst>
          </a:prstGeom>
          <a:solidFill>
            <a:srgbClr val="0F1A2C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STATUS · AUG 2026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88036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43800" y="288036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prototype units in assembly — 3D-printed enclosure, branded, flight-ready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92240" y="3593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AUG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43800" y="359359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units built and flying at a partner test range near Lviv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4306824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43800" y="4306824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10-unit prototype batch for OEM field trials on partner ISR aircraft (100 km linear routes)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5020056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43800" y="5020056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$1,000–1,500 per unit at prototype volumes — compute, 1 TB storage, camera, power &amp; cooling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hardware: OEMs asked for a calibrated, install-and-fly box — and onboard encrypted maps beat a web platform on security.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06 · MOAT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approach works — map IP is the moat.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algorithms will commoditise. Sovereign, fresh, GIS-grade maps will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871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25526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 — own field result, Aug 2026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error, real flights vs GPS ground truth · target ≤5 m CEP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4871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46520" y="325526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benchmark (Theseus)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46520" y="3566160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Median, 564 km optical-nav field test, Mar 2026 — validates the category, not our metric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6285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map layer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946904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GIS-grade reference maps per theatre — no Maxar lock-in, available where US primes can't go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29000" y="44348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56285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AO layer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11880" y="4946904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subscription keeps the area-of-operations layer current as terrain changes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17920" y="44348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56285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0" y="4946904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confidence output, honest “no fix” — a slot no competitor publishes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06840" y="44348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456285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Career-long nav team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89720" y="4946904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 combined years in geospatial, navigation and UAV systems; national-scale cartography exit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07 ·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$334M niche inside a $4.8B PNT market.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≈10,000 nav units per month needed on the UA front alone — validated in 20+ OEM interviews.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$4.8B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· 2030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Assured-PNT market · 24–29% CAGR · Mordor 2025 / TBRC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$334M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· 2033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GPS-denied drone-nav niche, from $149M (2024) · SRI 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28600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121F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75320" y="325526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· Year 1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5661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 benchmark · 2,000 units × $3,000 · bottom-up, ONS est.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10908792" cy="1143000"/>
          </a:xfrm>
          <a:prstGeom prst="roundRect">
            <a:avLst>
              <a:gd name="adj" fmla="val 6400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81728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signal from the field: </a:t>
            </a:r>
            <a:pPr indent="0" marL="0">
              <a:buNone/>
            </a:pPr>
            <a:r>
              <a:rPr lang="en-US" sz="13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interviews (Jul–Aug 2026) put UA demand at ~10,000 units/month for mid- and deep-strike platforms alone — and ~300 units/month are sellable today through our existing warm OEM network.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08 · APPLICATIONS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beachhead first, civil dual-use next.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software stack across platform classes — once MVP validates.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· YEARS 1–2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121F33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43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UAV OEMs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309067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Frontline serial-production lines — 280+ leads in pipeline, first replies in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606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743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Allied defence ministries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309067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MoD · USAF · allied procurement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26060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121F33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743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integrators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75320" y="309067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primes — Rheinmetall, Northrop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· DRONE CLASSES · YEARS 2+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5902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 drones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90118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GPS-denied recon missions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29000" y="448056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11880" y="45902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Deep-strike UAVs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11880" y="490118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autonomous targeting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5902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aviation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490118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GNSS-loss backup navigation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006840" y="448056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5902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formations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89720" y="490118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multi-platform ops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dual-use: Assured PNT · Logistics / BVLOS · Aviation backup · Emergency response.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09 · 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plus recurring map subscription.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validated in 20+ OEM &amp; operator interviews, Jul–Aug 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+ annual maps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35478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Per-unit benchmark price + recurring map subscription · BOM $1.0–1.5K leaves hardware margin plus software-grade recurring revenue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33172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21F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m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accuracy tier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35478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Correctors / last-mile precision for platforms where accuracy beats price — price-insensitive segment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233172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121F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75320" y="3200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integrators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75320" y="3547872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Per-platform royalty + IP licensing for primes integrating the stack at scale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48072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benchmark: 2,000 units × $3,000 = $6M. </a:t>
            </a:r>
            <a:pPr indent="0" marL="0">
              <a:buNone/>
            </a:pPr>
            <a:r>
              <a:rPr lang="en-US" sz="12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confirm a two-tier market: price-critical mass segment (mid-strike) and price-insensitive precision segment — the module + subscription model serves both.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10 ·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in production, MVP in 6–9 months.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converts capital into measurable validation. Path to Seed is clear.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21F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505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DONE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724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Map-matching algorithm live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flights: 17 m median, ~3 m best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ms/frame processing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228600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0F1A2C"/>
          </a:solidFill>
          <a:ln w="15875">
            <a:solidFill>
              <a:srgbClr val="F5C5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4505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NOW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1880" y="2724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prototypes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11880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units in manufacturing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units flying by end of Aug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MAVLink external-GPS integration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range secured (Lviv)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52578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$500K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21F3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4505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M6–M9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2724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0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GPS-free flight validated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≤5 m CEP target met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10-unit batch in OEM trials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Night-mode prototype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0" y="52578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UK DASA Open Call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06840" y="228600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2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4505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M9–M12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89720" y="27249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89720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× 3–5 from UA OEMs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 / DIANA decision</a:t>
            </a:r>
            <a:endParaRPr lang="en-US" sz="9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raise launched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89720" y="52578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$3M–$3.5M target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 ·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founders. Five years together.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 combined years in geospatial, navigation, and UAV systems.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21F3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514600"/>
            <a:ext cx="777240" cy="77724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GEOSPATIAL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37033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Eugene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4087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· Co-Founder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44074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national-scale cartography company 2016–2023. Founded GIS-POINT (UK), maker of FLY BY.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21F33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514600"/>
            <a:ext cx="777240" cy="77724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342900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ENGINEERING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37033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Andrew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4087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· Co-Founder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0" y="44074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scalable software systems. Owner of ONS algorithms — map-matching, IMU fusion, autopilot integration.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46720" y="228600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21F33"/>
          </a:solidFill>
          <a:ln/>
        </p:spPr>
      </p:sp>
      <p:sp>
        <p:nvSpPr>
          <p:cNvPr id="20" name="Shape 18"/>
          <p:cNvSpPr/>
          <p:nvPr/>
        </p:nvSpPr>
        <p:spPr>
          <a:xfrm>
            <a:off x="8275320" y="2514600"/>
            <a:ext cx="777240" cy="77724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2514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275320" y="342900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· PRIOR EXIT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75320" y="37033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Alex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75320" y="40873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Scientific Advisor · Co-Founder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75320" y="440740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PhD, 30+ years navigation &amp; UAV systems. Built and exited a prior UAV company. Chair, All-Ukrainian AeroGeodetic Association.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57150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since 2021 — the team that builds the maps now builds the navigation. Lean, capital-efficient.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12 ·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Pre-Seed: $500K from prototype to MVP.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$2.25M valuation cap · 20% discount · founders co-investing alongside.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9748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26700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— algorithm, sensor fusion, integration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27832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227832"/>
            <a:ext cx="150876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2278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3200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 &amp; prototype manufacturing — OEM and frontline pilots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3758184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3758184"/>
            <a:ext cx="113157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7581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3730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Geo-data — SCOUT map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288536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4288536"/>
            <a:ext cx="75438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288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42611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IP — patents UK + EU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4818888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4818888"/>
            <a:ext cx="75438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48188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47914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tooling — dev infrastructure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534924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21F3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5349240"/>
            <a:ext cx="377190" cy="274320"/>
          </a:xfrm>
          <a:prstGeom prst="roundRect">
            <a:avLst>
              <a:gd name="adj" fmla="val 16667"/>
            </a:avLst>
          </a:prstGeom>
          <a:solidFill>
            <a:srgbClr val="4ADE80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5349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53218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travel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132320" y="2240280"/>
            <a:ext cx="4434840" cy="3611880"/>
          </a:xfrm>
          <a:prstGeom prst="roundRect">
            <a:avLst>
              <a:gd name="adj" fmla="val 2025"/>
            </a:avLst>
          </a:prstGeom>
          <a:solidFill>
            <a:srgbClr val="0F1A2C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06640" y="2404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&amp; NON-DILUTIVE PIPELINE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406640" y="2788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2807208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&amp; VC applications submitted (US, EU, UA) — decisions from late Sep 2026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06640" y="353872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280+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3557016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manufacturer leads in outreach; first interested replies, expo meetings booked (MSPO Poland, Sep)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06640" y="428853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£350K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3068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DASA Open Call — defence-tech, planned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406640" y="503834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€150K+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03920" y="505663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NATO DIANA / EU dual-use grants — co-bid with UA partner, planned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months from close to working MVP: GPS-free flight validated, ≤5 m CEP target, 10-unit OEM trial fleet.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13 · EXIT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Defence-nav M&amp;A is funding the path to exit.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M&amp;A and capital flows in defence-tech navigation.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121F3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60604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4780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acquisition by drone prime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00200" y="284378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Anduril, Shield AI, Northrop, Rheinmetall — actively acquiring nav stacks.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63840" y="247802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Auterion $130M Series B · ~$600M val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121F33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84048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7124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by avionics / defence integrator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Garmin, Honeywell, BAE, Leonardo — building GPS-denied product lines.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3840" y="371246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Xona $320M raised to date · Asio $15M + Anduril partnership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121F33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5074920"/>
            <a:ext cx="502920" cy="502920"/>
          </a:xfrm>
          <a:prstGeom prst="ellipse">
            <a:avLst/>
          </a:prstGeom>
          <a:solidFill>
            <a:srgbClr val="1C2E4A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9469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→ B → IPO path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600200" y="531266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beachhead converts to $20M+ ARR by Y4 — defence-tech IPO window.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3840" y="494690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5C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Anello $25M + $20M DoD APFIT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pPr indent="0" marL="0">
              <a:buNone/>
            </a:pPr>
            <a:r>
              <a:rPr lang="en-US" sz="1200" spc="3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APPENDIX · COMPETITION · AUG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A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owns the map + honesty slot.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 scan, Aug 2026 — nobody offers a sovereign fresh map with a transparent CEP.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560320" y="2377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20440" y="23774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/ traction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89320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(denied)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237744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vs 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9806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Theseus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60320" y="27980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79806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$4.3M seed · SOCOM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89320" y="27980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 median / 564 km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2798064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direct comp — same approach, no own map, no confidence output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36499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560320" y="336499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US–UA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20440" y="336499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 Series A (Draper)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336499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55280" y="3364992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Combat-proven kit at ~$20K/unit — not attritable-priced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Asio Tech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60320" y="39319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20440" y="393192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 + Anduril · 10K combat hrs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89320" y="393192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drift-free, CEP n/d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955280" y="3931920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module benchmark — CEP &amp; price not published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" y="44988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Robotics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560320" y="449884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Ukraine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20440" y="449884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km · ~25K sorties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89320" y="44988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m, no cumulative drift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55280" y="4498848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UA incumbent — we beat on accuracy target &amp; fresh map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506577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Delian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60320" y="506577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520440" y="506577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989320" y="506577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 m, ≤0.1% error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55280" y="5065776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Deep-strike focus — adjacent to our phase 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0352" y="5596128"/>
            <a:ext cx="11128248" cy="566928"/>
          </a:xfrm>
          <a:prstGeom prst="roundRect">
            <a:avLst>
              <a:gd name="adj" fmla="val 8065"/>
            </a:avLst>
          </a:prstGeom>
          <a:solidFill>
            <a:srgbClr val="16331F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 / FLY BY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60320" y="563270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UK–UA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520440" y="56327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Pre-Seed (this round)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89320" y="563270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 median field-tested · ≤5 m target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955280" y="5632704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fresh map IP + honest confidence + attritable price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40080" y="61447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open reporting Aug 2026 (Theseus field report, Brave1, Draper, company disclosures). Independent benchmarks are not ONS results.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2026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45159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D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2026-08-21T06:43:14Z</dcterms:created>
  <dcterms:modified xsi:type="dcterms:W3CDTF">2026-08-21T06:43:14Z</dcterms:modified>
</cp:coreProperties>
</file>